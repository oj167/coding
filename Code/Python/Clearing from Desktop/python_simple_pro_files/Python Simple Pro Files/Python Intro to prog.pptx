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318" r:id="rId2"/>
    <p:sldId id="319" r:id="rId3"/>
    <p:sldId id="320" r:id="rId4"/>
    <p:sldId id="324" r:id="rId5"/>
    <p:sldId id="326" r:id="rId6"/>
    <p:sldId id="325" r:id="rId7"/>
    <p:sldId id="323" r:id="rId8"/>
    <p:sldId id="327" r:id="rId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5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DD"/>
    <a:srgbClr val="7ECBB6"/>
    <a:srgbClr val="F47920"/>
    <a:srgbClr val="E86741"/>
    <a:srgbClr val="E174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96"/>
  </p:normalViewPr>
  <p:slideViewPr>
    <p:cSldViewPr snapToGrid="0" snapToObjects="1">
      <p:cViewPr varScale="1">
        <p:scale>
          <a:sx n="114" d="100"/>
          <a:sy n="114" d="100"/>
        </p:scale>
        <p:origin x="78" y="222"/>
      </p:cViewPr>
      <p:guideLst>
        <p:guide orient="horz" pos="305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AD634-B286-CF4C-B608-BAEDD7C846A9}" type="datetimeFigureOut">
              <a:rPr lang="en-US" smtClean="0"/>
              <a:t>7/7/2020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B6ED8-9D91-5E4C-8236-27D5494AAD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7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psf/license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356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smtClean="0"/>
              <a:t>https://wiki.python.org/moin/BeginnersGuide/Overview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 is a clear and powerful object-oriented programming language, comparable to Perl, Ruby, Scheme, or Java.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smtClean="0"/>
              <a:t>Is an easy-to-use language that makes it simple to get your program working. This makes Python ideal for prototype development and other ad-hoc programming tasks, without compromising maintainability.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smtClean="0"/>
              <a:t>Comes with a large standard library that supports many common programming tasks such as connecting to web servers, searching text with regular expressions, reading and modifying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 smtClean="0"/>
              <a:t>Runs anywhere, including Mac OS X, Windows, Linux, and Unix, with unofficial builds also available for Android and iOS.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free software in two senses. It doesn't cost anything to download or use Python, or to include it in your application. Python can also be freely modified and re-distributed, because while the language is copyrighted it's available under </a:t>
            </a:r>
            <a:r>
              <a:rPr lang="en-GB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an open source license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72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077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937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075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9442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8B6ED8-9D91-5E4C-8236-27D5494AAD9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0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B2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3503" y="716074"/>
            <a:ext cx="6992433" cy="112296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chemeClr val="bg1"/>
                </a:solidFill>
                <a:latin typeface="+mn-lt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TITLE GOES HERE IN CAPS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3504" y="2315924"/>
            <a:ext cx="6858000" cy="33428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baseline="0">
                <a:solidFill>
                  <a:schemeClr val="bg1"/>
                </a:solidFill>
                <a:latin typeface="+mn-lt"/>
                <a:ea typeface="Avenir Next Medium" charset="0"/>
                <a:cs typeface="Avenir Next Medium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 title goes here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4703" y="2823957"/>
            <a:ext cx="7705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603250" y="3147348"/>
            <a:ext cx="6142455" cy="3381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i="0">
                <a:solidFill>
                  <a:schemeClr val="bg1"/>
                </a:solidFill>
                <a:latin typeface="+mn-lt"/>
                <a:ea typeface="Avenir Next" charset="0"/>
                <a:cs typeface="Avenir Next" charset="0"/>
              </a:defRPr>
            </a:lvl1pPr>
          </a:lstStyle>
          <a:p>
            <a:pPr lvl="0"/>
            <a:r>
              <a:rPr lang="en-US" dirty="0"/>
              <a:t>Date / location / additional info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221" y="3808875"/>
            <a:ext cx="9372513" cy="14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1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B2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74703" y="2823957"/>
            <a:ext cx="7705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221" y="3808875"/>
            <a:ext cx="9372513" cy="1449750"/>
          </a:xfrm>
          <a:prstGeom prst="rect">
            <a:avLst/>
          </a:prstGeom>
        </p:spPr>
      </p:pic>
      <p:sp>
        <p:nvSpPr>
          <p:cNvPr id="9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74703" y="4195977"/>
            <a:ext cx="1258371" cy="65722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2134535" y="4195977"/>
            <a:ext cx="1258371" cy="65722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603503" y="716074"/>
            <a:ext cx="6992433" cy="112296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 b="1" i="0" baseline="0">
                <a:solidFill>
                  <a:schemeClr val="bg1"/>
                </a:solidFill>
                <a:latin typeface="+mn-lt"/>
                <a:ea typeface="Avenir Next" charset="0"/>
                <a:cs typeface="Avenir Next" charset="0"/>
              </a:defRPr>
            </a:lvl1pPr>
          </a:lstStyle>
          <a:p>
            <a:r>
              <a:rPr lang="en-US" dirty="0"/>
              <a:t>TITLE GOES HERE IN CAPS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3504" y="2315924"/>
            <a:ext cx="6858000" cy="33428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baseline="0">
                <a:solidFill>
                  <a:schemeClr val="bg1"/>
                </a:solidFill>
                <a:latin typeface="+mn-lt"/>
                <a:ea typeface="Avenir Next Medium" charset="0"/>
                <a:cs typeface="Avenir Next Medium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Sub title goes here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2" hasCustomPrompt="1"/>
          </p:nvPr>
        </p:nvSpPr>
        <p:spPr>
          <a:xfrm>
            <a:off x="603250" y="3147348"/>
            <a:ext cx="6142455" cy="33813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500" b="0" i="0">
                <a:solidFill>
                  <a:schemeClr val="bg1"/>
                </a:solidFill>
                <a:latin typeface="+mn-lt"/>
                <a:ea typeface="Avenir Next" charset="0"/>
                <a:cs typeface="Avenir Next" charset="0"/>
              </a:defRPr>
            </a:lvl1pPr>
          </a:lstStyle>
          <a:p>
            <a:pPr lvl="0"/>
            <a:r>
              <a:rPr lang="en-US" dirty="0"/>
              <a:t>Date / location / additional info</a:t>
            </a:r>
          </a:p>
        </p:txBody>
      </p:sp>
    </p:spTree>
    <p:extLst>
      <p:ext uri="{BB962C8B-B14F-4D97-AF65-F5344CB8AC3E}">
        <p14:creationId xmlns:p14="http://schemas.microsoft.com/office/powerpoint/2010/main" val="119571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807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>
          <a:xfrm>
            <a:off x="674703" y="2823957"/>
            <a:ext cx="770581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473" y="-67296"/>
            <a:ext cx="9364199" cy="1448465"/>
          </a:xfrm>
          <a:prstGeom prst="rect">
            <a:avLst/>
          </a:prstGeom>
        </p:spPr>
      </p:pic>
      <p:sp>
        <p:nvSpPr>
          <p:cNvPr id="17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84241" y="1763577"/>
            <a:ext cx="6110339" cy="2749156"/>
          </a:xfrm>
          <a:prstGeom prst="rect">
            <a:avLst/>
          </a:prstGeom>
        </p:spPr>
        <p:txBody>
          <a:bodyPr/>
          <a:lstStyle>
            <a:lvl1pPr>
              <a:buClr>
                <a:srgbClr val="00B2DD"/>
              </a:buClr>
              <a:defRPr>
                <a:solidFill>
                  <a:schemeClr val="tx1"/>
                </a:solidFill>
              </a:defRPr>
            </a:lvl1pPr>
          </a:lstStyle>
          <a:p>
            <a:pPr>
              <a:buClr>
                <a:srgbClr val="00B2DD"/>
              </a:buClr>
            </a:pPr>
            <a:r>
              <a:rPr lang="en-US" dirty="0">
                <a:latin typeface="+mn-lt"/>
              </a:rPr>
              <a:t>Important parts of the text can be </a:t>
            </a:r>
            <a:r>
              <a:rPr lang="en-US" b="1" dirty="0">
                <a:latin typeface="+mn-lt"/>
                <a:ea typeface="Avenir Next Demi Bold" charset="0"/>
                <a:cs typeface="Avenir Next Demi Bold" charset="0"/>
              </a:rPr>
              <a:t>highlighted in demi bold weight</a:t>
            </a:r>
            <a:r>
              <a:rPr lang="en-US" dirty="0">
                <a:latin typeface="+mn-lt"/>
              </a:rPr>
              <a:t> for added impact.</a:t>
            </a:r>
          </a:p>
          <a:p>
            <a:pPr>
              <a:buClr>
                <a:srgbClr val="00B2DD"/>
              </a:buClr>
            </a:pPr>
            <a:r>
              <a:rPr lang="en-US" dirty="0" err="1">
                <a:latin typeface="+mn-lt"/>
              </a:rPr>
              <a:t>Nunc</a:t>
            </a:r>
            <a:r>
              <a:rPr lang="en-US" dirty="0">
                <a:latin typeface="+mn-lt"/>
              </a:rPr>
              <a:t> a </a:t>
            </a:r>
            <a:r>
              <a:rPr lang="en-US" dirty="0" err="1">
                <a:latin typeface="+mn-lt"/>
              </a:rPr>
              <a:t>nisl</a:t>
            </a:r>
            <a:r>
              <a:rPr lang="en-US" dirty="0">
                <a:latin typeface="+mn-lt"/>
              </a:rPr>
              <a:t> vitae </a:t>
            </a:r>
            <a:r>
              <a:rPr lang="en-US" b="1" dirty="0" err="1">
                <a:latin typeface="+mn-lt"/>
                <a:ea typeface="Avenir Next Demi Bold" charset="0"/>
                <a:cs typeface="Avenir Next Demi Bold" charset="0"/>
              </a:rPr>
              <a:t>massa</a:t>
            </a:r>
            <a:r>
              <a:rPr lang="en-US" b="1" dirty="0">
                <a:latin typeface="+mn-lt"/>
                <a:ea typeface="Avenir Next Demi Bold" charset="0"/>
                <a:cs typeface="Avenir Next Demi Bold" charset="0"/>
              </a:rPr>
              <a:t> </a:t>
            </a:r>
            <a:r>
              <a:rPr lang="en-US" b="1" dirty="0" err="1">
                <a:latin typeface="+mn-lt"/>
                <a:ea typeface="Avenir Next Demi Bold" charset="0"/>
                <a:cs typeface="Avenir Next Demi Bold" charset="0"/>
              </a:rPr>
              <a:t>volutpat</a:t>
            </a:r>
            <a:r>
              <a:rPr lang="en-US" b="1" dirty="0">
                <a:latin typeface="+mn-lt"/>
                <a:ea typeface="Avenir Next Demi Bold" charset="0"/>
                <a:cs typeface="Avenir Next Demi Bold" charset="0"/>
              </a:rPr>
              <a:t> </a:t>
            </a:r>
            <a:r>
              <a:rPr lang="en-US" b="1" dirty="0" err="1">
                <a:latin typeface="+mn-lt"/>
                <a:ea typeface="Avenir Next Demi Bold" charset="0"/>
                <a:cs typeface="Avenir Next Demi Bold" charset="0"/>
              </a:rPr>
              <a:t>volutpat</a:t>
            </a:r>
            <a:r>
              <a:rPr lang="en-US" dirty="0">
                <a:latin typeface="+mn-lt"/>
              </a:rPr>
              <a:t>. </a:t>
            </a:r>
            <a:r>
              <a:rPr lang="en-US" dirty="0" err="1">
                <a:latin typeface="+mn-lt"/>
              </a:rPr>
              <a:t>Sed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bibendum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mauris</a:t>
            </a:r>
            <a:r>
              <a:rPr lang="en-US" dirty="0">
                <a:latin typeface="+mn-lt"/>
              </a:rPr>
              <a:t> id </a:t>
            </a:r>
            <a:r>
              <a:rPr lang="en-US" dirty="0" err="1">
                <a:latin typeface="+mn-lt"/>
              </a:rPr>
              <a:t>rutrum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feugiat</a:t>
            </a:r>
            <a:r>
              <a:rPr lang="en-US" dirty="0">
                <a:latin typeface="+mn-lt"/>
              </a:rPr>
              <a:t>.</a:t>
            </a:r>
          </a:p>
          <a:p>
            <a:pPr>
              <a:buClr>
                <a:srgbClr val="00B2DD"/>
              </a:buClr>
            </a:pPr>
            <a:r>
              <a:rPr lang="en-US" b="1" dirty="0">
                <a:latin typeface="+mn-lt"/>
                <a:ea typeface="Avenir Next Demi Bold" charset="0"/>
                <a:cs typeface="Avenir Next Demi Bold" charset="0"/>
              </a:rPr>
              <a:t>Or every bullet point can be in demi bold</a:t>
            </a:r>
            <a:r>
              <a:rPr lang="en-US" dirty="0">
                <a:latin typeface="+mn-lt"/>
              </a:rPr>
              <a:t>.</a:t>
            </a:r>
          </a:p>
          <a:p>
            <a:r>
              <a:rPr lang="en-US" dirty="0" err="1"/>
              <a:t>Nunc</a:t>
            </a:r>
            <a:r>
              <a:rPr lang="en-US" dirty="0"/>
              <a:t> a </a:t>
            </a:r>
            <a:r>
              <a:rPr lang="en-US" dirty="0" err="1"/>
              <a:t>nisl</a:t>
            </a:r>
            <a:r>
              <a:rPr lang="en-US" dirty="0"/>
              <a:t> vitae </a:t>
            </a:r>
            <a:r>
              <a:rPr lang="en-US" b="1" dirty="0" err="1">
                <a:ea typeface="Avenir Next Demi Bold" charset="0"/>
                <a:cs typeface="Avenir Next Demi Bold" charset="0"/>
              </a:rPr>
              <a:t>massa</a:t>
            </a:r>
            <a:r>
              <a:rPr lang="en-US" b="1" dirty="0">
                <a:ea typeface="Avenir Next Demi Bold" charset="0"/>
                <a:cs typeface="Avenir Next Demi Bold" charset="0"/>
              </a:rPr>
              <a:t> </a:t>
            </a:r>
            <a:r>
              <a:rPr lang="en-US" b="1" dirty="0" err="1">
                <a:ea typeface="Avenir Next Demi Bold" charset="0"/>
                <a:cs typeface="Avenir Next Demi Bold" charset="0"/>
              </a:rPr>
              <a:t>volutpat</a:t>
            </a:r>
            <a:r>
              <a:rPr lang="en-US" b="1" dirty="0">
                <a:ea typeface="Avenir Next Demi Bold" charset="0"/>
                <a:cs typeface="Avenir Next Demi Bold" charset="0"/>
              </a:rPr>
              <a:t> </a:t>
            </a:r>
            <a:r>
              <a:rPr lang="en-US" b="1" dirty="0" err="1">
                <a:ea typeface="Avenir Next Demi Bold" charset="0"/>
                <a:cs typeface="Avenir Next Demi Bold" charset="0"/>
              </a:rPr>
              <a:t>volutpat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id </a:t>
            </a:r>
            <a:r>
              <a:rPr lang="en-US" dirty="0" err="1"/>
              <a:t>rutrum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</a:t>
            </a: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884242" y="1215700"/>
            <a:ext cx="5373684" cy="3808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>
                <a:solidFill>
                  <a:srgbClr val="00B2DD"/>
                </a:solidFill>
                <a:latin typeface="+mn-lt"/>
              </a:rPr>
              <a:t>Page title (more bullet points)</a:t>
            </a:r>
          </a:p>
          <a:p>
            <a:endParaRPr lang="en-US" dirty="0">
              <a:solidFill>
                <a:srgbClr val="00B2D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144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43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  <p:sldLayoutId id="2147483667" r:id="rId3"/>
    <p:sldLayoutId id="2147483693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" y="0"/>
            <a:ext cx="9143657" cy="514349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603504" y="2304338"/>
            <a:ext cx="5965738" cy="112392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Avenir Next" charset="0"/>
                <a:ea typeface="Avenir Next" charset="0"/>
                <a:cs typeface="Avenir Next" charset="0"/>
              </a:defRPr>
            </a:lvl1pPr>
          </a:lstStyle>
          <a:p>
            <a:pPr>
              <a:lnSpc>
                <a:spcPct val="80000"/>
              </a:lnSpc>
            </a:pPr>
            <a:endParaRPr lang="en-US" sz="4800" dirty="0">
              <a:solidFill>
                <a:srgbClr val="00B2DD"/>
              </a:solidFill>
              <a:latin typeface="+mn-lt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03504" y="3655605"/>
            <a:ext cx="6858000" cy="33428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 kern="1200" baseline="0">
                <a:solidFill>
                  <a:schemeClr val="bg1"/>
                </a:solidFill>
                <a:latin typeface="Avenir Next Medium" charset="0"/>
                <a:ea typeface="Avenir Next Medium" charset="0"/>
                <a:cs typeface="Avenir Next Medium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0B2DD"/>
              </a:solidFill>
              <a:latin typeface="+mn-lt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3504" y="4254329"/>
            <a:ext cx="6858000" cy="334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Avenir Next Medium" charset="0"/>
                <a:ea typeface="Avenir Next Medium" charset="0"/>
                <a:cs typeface="Avenir Next Medium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b="0" i="0" dirty="0">
              <a:solidFill>
                <a:srgbClr val="00B2DD"/>
              </a:solidFill>
              <a:latin typeface="+mn-lt"/>
              <a:ea typeface="Avenir Next" charset="0"/>
              <a:cs typeface="Avenir Next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51584" y="2383971"/>
            <a:ext cx="6998377" cy="2204638"/>
          </a:xfrm>
        </p:spPr>
        <p:txBody>
          <a:bodyPr/>
          <a:lstStyle/>
          <a:p>
            <a:r>
              <a:rPr lang="en-GB" dirty="0" smtClean="0"/>
              <a:t>Please </a:t>
            </a:r>
            <a:r>
              <a:rPr lang="en-GB" dirty="0"/>
              <a:t>mute your microphone and turn your video off</a:t>
            </a:r>
          </a:p>
          <a:p>
            <a:r>
              <a:rPr lang="en-GB" dirty="0"/>
              <a:t>Click the </a:t>
            </a:r>
            <a:r>
              <a:rPr lang="en-GB" b="1" dirty="0"/>
              <a:t>Show conversation</a:t>
            </a:r>
            <a:r>
              <a:rPr lang="en-GB" dirty="0"/>
              <a:t> button if you want to ask any questions during the session</a:t>
            </a:r>
            <a:br>
              <a:rPr lang="en-GB" dirty="0"/>
            </a:b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884242" y="1829082"/>
            <a:ext cx="6773858" cy="380867"/>
          </a:xfrm>
        </p:spPr>
        <p:txBody>
          <a:bodyPr/>
          <a:lstStyle/>
          <a:p>
            <a:r>
              <a:rPr lang="en-GB" sz="2400" dirty="0" smtClean="0">
                <a:solidFill>
                  <a:srgbClr val="00B2DD"/>
                </a:solidFill>
              </a:rPr>
              <a:t>An Introduction to Python</a:t>
            </a:r>
            <a:endParaRPr lang="en-GB" sz="2400" dirty="0">
              <a:solidFill>
                <a:srgbClr val="00B2DD"/>
              </a:solidFill>
            </a:endParaRPr>
          </a:p>
          <a:p>
            <a:endParaRPr lang="en-US" sz="2400" dirty="0">
              <a:solidFill>
                <a:srgbClr val="00B2DD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467" y="4007771"/>
            <a:ext cx="4600609" cy="51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1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884241" y="1738993"/>
            <a:ext cx="7934735" cy="3210034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GB" dirty="0"/>
              <a:t>Overview of Python</a:t>
            </a:r>
          </a:p>
          <a:p>
            <a:r>
              <a:rPr lang="en-GB" dirty="0"/>
              <a:t>Using simple commands</a:t>
            </a:r>
          </a:p>
          <a:p>
            <a:r>
              <a:rPr lang="en-GB" dirty="0"/>
              <a:t>Creating and using variables</a:t>
            </a:r>
          </a:p>
          <a:p>
            <a:r>
              <a:rPr lang="en-GB" dirty="0"/>
              <a:t>Creating a simple program</a:t>
            </a:r>
          </a:p>
          <a:p>
            <a:pPr>
              <a:buClr>
                <a:srgbClr val="00B2DD"/>
              </a:buClr>
            </a:pPr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884242" y="1215700"/>
            <a:ext cx="5373684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2DD"/>
                </a:solidFill>
                <a:latin typeface="+mn-lt"/>
              </a:rPr>
              <a:t>Session Outline</a:t>
            </a:r>
          </a:p>
          <a:p>
            <a:endParaRPr lang="en-US" dirty="0">
              <a:solidFill>
                <a:srgbClr val="00B2D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223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884241" y="1640977"/>
            <a:ext cx="7176026" cy="287175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sz="2400" dirty="0" smtClean="0"/>
              <a:t>It’s </a:t>
            </a:r>
            <a:r>
              <a:rPr lang="en-GB" sz="2400" dirty="0"/>
              <a:t>an easy-to-use </a:t>
            </a:r>
            <a:r>
              <a:rPr lang="en-GB" sz="2400" dirty="0" smtClean="0"/>
              <a:t>language </a:t>
            </a:r>
            <a:r>
              <a:rPr lang="en-GB" sz="2400" dirty="0"/>
              <a:t>that makes it simple to get your program working</a:t>
            </a:r>
          </a:p>
          <a:p>
            <a:r>
              <a:rPr lang="en-GB" sz="2400" dirty="0" smtClean="0"/>
              <a:t>It </a:t>
            </a:r>
            <a:r>
              <a:rPr lang="en-GB" sz="2400" dirty="0"/>
              <a:t>runs anywhere</a:t>
            </a:r>
          </a:p>
          <a:p>
            <a:r>
              <a:rPr lang="en-GB" sz="2400" dirty="0" smtClean="0"/>
              <a:t>It’s open source</a:t>
            </a:r>
          </a:p>
          <a:p>
            <a:pPr>
              <a:buClr>
                <a:srgbClr val="00B2DD"/>
              </a:buClr>
            </a:pPr>
            <a:r>
              <a:rPr lang="en-US" sz="2400" dirty="0" smtClean="0"/>
              <a:t>Available </a:t>
            </a:r>
            <a:r>
              <a:rPr lang="en-US" sz="2400" dirty="0"/>
              <a:t>from </a:t>
            </a:r>
            <a:r>
              <a:rPr lang="en-US" sz="2400" dirty="0" smtClean="0">
                <a:hlinkClick r:id="rId3"/>
              </a:rPr>
              <a:t>www.python.org</a:t>
            </a:r>
            <a:r>
              <a:rPr lang="en-US" sz="2400" dirty="0" smtClean="0"/>
              <a:t> </a:t>
            </a:r>
            <a:endParaRPr lang="en-US" sz="2400" dirty="0"/>
          </a:p>
          <a:p>
            <a:pPr lvl="1">
              <a:buClr>
                <a:srgbClr val="00B2DD"/>
              </a:buClr>
            </a:pPr>
            <a:r>
              <a:rPr lang="en-US" sz="2000" dirty="0" smtClean="0"/>
              <a:t>Version </a:t>
            </a:r>
            <a:r>
              <a:rPr lang="en-US" sz="2000" dirty="0"/>
              <a:t>3.8.x is the latest </a:t>
            </a:r>
            <a:r>
              <a:rPr lang="en-US" sz="2000" dirty="0" smtClean="0"/>
              <a:t>version</a:t>
            </a:r>
            <a:endParaRPr lang="en-GB" sz="2000" dirty="0"/>
          </a:p>
          <a:p>
            <a:pPr>
              <a:buClr>
                <a:srgbClr val="00B2DD"/>
              </a:buClr>
            </a:pPr>
            <a:r>
              <a:rPr lang="en-US" sz="2400" dirty="0"/>
              <a:t>Documentation </a:t>
            </a:r>
            <a:r>
              <a:rPr lang="en-US" sz="2400" dirty="0" smtClean="0"/>
              <a:t>and free online tutorials are available</a:t>
            </a:r>
            <a:endParaRPr lang="en-US" sz="2400" dirty="0"/>
          </a:p>
          <a:p>
            <a:pPr>
              <a:buClr>
                <a:srgbClr val="00B2DD"/>
              </a:buClr>
            </a:pPr>
            <a:endParaRPr lang="en-US" sz="2400" dirty="0"/>
          </a:p>
          <a:p>
            <a:pPr>
              <a:buClr>
                <a:srgbClr val="00B2DD"/>
              </a:buClr>
            </a:pPr>
            <a:endParaRPr lang="en-US" sz="2400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884242" y="1215700"/>
            <a:ext cx="5373684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  <a:latin typeface="+mn-lt"/>
              </a:rPr>
              <a:t>What is Python?</a:t>
            </a:r>
            <a:endParaRPr lang="en-US" dirty="0">
              <a:solidFill>
                <a:srgbClr val="00B2D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876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503767" y="2747435"/>
            <a:ext cx="2159000" cy="201575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US" b="1" dirty="0" smtClean="0"/>
              <a:t>Maths</a:t>
            </a:r>
          </a:p>
          <a:p>
            <a:pPr lvl="1">
              <a:buClr>
                <a:srgbClr val="00B2DD"/>
              </a:buClr>
            </a:pPr>
            <a:r>
              <a:rPr lang="en-US" dirty="0" smtClean="0">
                <a:latin typeface="+mn-lt"/>
              </a:rPr>
              <a:t>5 + 5 * 3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5**3</a:t>
            </a:r>
          </a:p>
          <a:p>
            <a:pPr lvl="1">
              <a:buClr>
                <a:srgbClr val="00B2DD"/>
              </a:buClr>
            </a:pPr>
            <a:r>
              <a:rPr lang="en-US" dirty="0" smtClean="0">
                <a:latin typeface="+mn-lt"/>
              </a:rPr>
              <a:t>5/3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5//3</a:t>
            </a:r>
          </a:p>
          <a:p>
            <a:pPr lvl="1">
              <a:buClr>
                <a:srgbClr val="00B2DD"/>
              </a:buClr>
            </a:pPr>
            <a:r>
              <a:rPr lang="en-US" b="1" dirty="0" smtClean="0"/>
              <a:t>help</a:t>
            </a:r>
            <a:r>
              <a:rPr lang="en-US" b="1" dirty="0"/>
              <a:t>(</a:t>
            </a:r>
            <a:r>
              <a:rPr lang="en-US" dirty="0"/>
              <a:t>“round”</a:t>
            </a:r>
            <a:r>
              <a:rPr lang="en-US" b="1" dirty="0"/>
              <a:t>)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round(5/3, 1)</a:t>
            </a:r>
          </a:p>
          <a:p>
            <a:pPr lvl="1">
              <a:buClr>
                <a:srgbClr val="00B2DD"/>
              </a:buClr>
            </a:pPr>
            <a:endParaRPr lang="en-US" b="1" dirty="0" smtClean="0"/>
          </a:p>
          <a:p>
            <a:pPr lvl="1">
              <a:buClr>
                <a:srgbClr val="00B2DD"/>
              </a:buClr>
            </a:pPr>
            <a:endParaRPr lang="en-US" dirty="0">
              <a:latin typeface="+mn-lt"/>
            </a:endParaRP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503767" y="1215700"/>
            <a:ext cx="5754159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</a:rPr>
              <a:t>Try some of these in IDLE</a:t>
            </a:r>
            <a:endParaRPr lang="en-GB" dirty="0" smtClean="0">
              <a:solidFill>
                <a:srgbClr val="00B2DD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3162301" y="2747435"/>
            <a:ext cx="2523066" cy="15271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US" b="1" dirty="0" smtClean="0"/>
              <a:t>Strings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“pine” + “apple”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“10” + “10”</a:t>
            </a:r>
          </a:p>
          <a:p>
            <a:pPr lvl="1">
              <a:buClr>
                <a:srgbClr val="00B2DD"/>
              </a:buClr>
            </a:pPr>
            <a:r>
              <a:rPr lang="en-US" dirty="0" smtClean="0"/>
              <a:t>4 * “10”</a:t>
            </a:r>
            <a:endParaRPr lang="en-US" b="1" dirty="0" smtClean="0"/>
          </a:p>
          <a:p>
            <a:pPr lvl="1">
              <a:buClr>
                <a:srgbClr val="00B2DD"/>
              </a:buClr>
            </a:pPr>
            <a:endParaRPr lang="en-US" dirty="0">
              <a:latin typeface="+mn-lt"/>
            </a:endParaRP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503767" y="1660068"/>
            <a:ext cx="4969933" cy="1023866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US" dirty="0"/>
              <a:t>Change font size: </a:t>
            </a:r>
            <a:r>
              <a:rPr lang="en-US" b="1" dirty="0"/>
              <a:t>Options&gt;Configure IDLE</a:t>
            </a:r>
          </a:p>
          <a:p>
            <a:pPr>
              <a:buClr>
                <a:srgbClr val="00B2DD"/>
              </a:buClr>
            </a:pPr>
            <a:r>
              <a:rPr lang="en-US" dirty="0"/>
              <a:t>Use </a:t>
            </a:r>
            <a:r>
              <a:rPr lang="en-US" b="1" dirty="0"/>
              <a:t>ALT + P </a:t>
            </a:r>
            <a:r>
              <a:rPr lang="en-US" dirty="0"/>
              <a:t>to scroll through previous </a:t>
            </a:r>
            <a:r>
              <a:rPr lang="en-US" dirty="0" smtClean="0"/>
              <a:t>commands</a:t>
            </a:r>
            <a:endParaRPr lang="en-US" b="1" dirty="0" smtClean="0"/>
          </a:p>
          <a:p>
            <a:pPr lvl="1">
              <a:buClr>
                <a:srgbClr val="00B2DD"/>
              </a:buClr>
            </a:pPr>
            <a:endParaRPr lang="en-US" dirty="0">
              <a:latin typeface="+mn-lt"/>
            </a:endParaRP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276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766234" y="1701128"/>
            <a:ext cx="5037667" cy="222594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US" sz="2400" b="1" dirty="0" smtClean="0"/>
              <a:t>print</a:t>
            </a:r>
          </a:p>
          <a:p>
            <a:pPr lvl="1">
              <a:buClr>
                <a:srgbClr val="00B2DD"/>
              </a:buClr>
            </a:pPr>
            <a:r>
              <a:rPr lang="en-US" sz="2000" dirty="0" smtClean="0"/>
              <a:t>help</a:t>
            </a:r>
            <a:r>
              <a:rPr lang="en-US" sz="2000" dirty="0"/>
              <a:t>("print")</a:t>
            </a:r>
          </a:p>
          <a:p>
            <a:pPr lvl="1">
              <a:buClr>
                <a:srgbClr val="00B2DD"/>
              </a:buClr>
            </a:pPr>
            <a:r>
              <a:rPr lang="en-US" sz="2000" dirty="0" smtClean="0"/>
              <a:t>print</a:t>
            </a:r>
            <a:r>
              <a:rPr lang="en-US" sz="2000" dirty="0"/>
              <a:t>("Hello World</a:t>
            </a:r>
            <a:r>
              <a:rPr lang="en-US" sz="2000" dirty="0" smtClean="0"/>
              <a:t>")</a:t>
            </a:r>
          </a:p>
          <a:p>
            <a:pPr lvl="1">
              <a:buClr>
                <a:srgbClr val="00B2DD"/>
              </a:buClr>
            </a:pPr>
            <a:r>
              <a:rPr lang="en-US" sz="2000" dirty="0"/>
              <a:t>print(4 * 5)</a:t>
            </a:r>
          </a:p>
          <a:p>
            <a:pPr lvl="1">
              <a:buClr>
                <a:srgbClr val="00B2DD"/>
              </a:buClr>
            </a:pPr>
            <a:r>
              <a:rPr lang="en-GB" sz="2000" dirty="0" smtClean="0"/>
              <a:t>print</a:t>
            </a:r>
            <a:r>
              <a:rPr lang="en-GB" sz="2000" dirty="0"/>
              <a:t>("The answer is ", 6*7, "!", sep = </a:t>
            </a:r>
            <a:r>
              <a:rPr lang="en-GB" sz="2000" dirty="0" smtClean="0"/>
              <a:t>"")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766234" y="1207291"/>
            <a:ext cx="5445126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</a:rPr>
              <a:t>Functions and Modules</a:t>
            </a:r>
            <a:endParaRPr lang="en-US" dirty="0">
              <a:solidFill>
                <a:srgbClr val="00B2DD"/>
              </a:solidFill>
              <a:latin typeface="+mn-lt"/>
            </a:endParaRP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766234" y="3684795"/>
            <a:ext cx="4496326" cy="835427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GB" sz="2400" b="1" dirty="0" smtClean="0"/>
              <a:t>input</a:t>
            </a:r>
          </a:p>
          <a:p>
            <a:pPr lvl="1">
              <a:buClr>
                <a:srgbClr val="00B2DD"/>
              </a:buClr>
            </a:pPr>
            <a:r>
              <a:rPr lang="en-GB" sz="2000" dirty="0"/>
              <a:t>input("What is your name? </a:t>
            </a:r>
            <a:r>
              <a:rPr lang="en-GB" sz="2000" dirty="0" smtClean="0"/>
              <a:t>")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5803900" y="1701128"/>
            <a:ext cx="2882900" cy="1983667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r>
              <a:rPr lang="en-US" sz="2400" b="1" dirty="0" smtClean="0"/>
              <a:t>math.sqrt</a:t>
            </a:r>
          </a:p>
          <a:p>
            <a:pPr lvl="1">
              <a:buClr>
                <a:srgbClr val="00B2DD"/>
              </a:buClr>
            </a:pPr>
            <a:r>
              <a:rPr lang="en-US" sz="2000" dirty="0"/>
              <a:t>help(“modules”)</a:t>
            </a:r>
          </a:p>
          <a:p>
            <a:pPr lvl="1">
              <a:buClr>
                <a:srgbClr val="00B2DD"/>
              </a:buClr>
            </a:pPr>
            <a:r>
              <a:rPr lang="en-US" sz="2000" dirty="0" smtClean="0"/>
              <a:t>help</a:t>
            </a:r>
            <a:r>
              <a:rPr lang="en-US" sz="2000" dirty="0"/>
              <a:t>("math</a:t>
            </a:r>
            <a:r>
              <a:rPr lang="en-US" sz="2000" dirty="0" smtClean="0"/>
              <a:t>")</a:t>
            </a:r>
          </a:p>
          <a:p>
            <a:pPr lvl="1">
              <a:buClr>
                <a:srgbClr val="00B2DD"/>
              </a:buClr>
            </a:pPr>
            <a:r>
              <a:rPr lang="en-US" sz="2000" dirty="0"/>
              <a:t>import </a:t>
            </a:r>
            <a:r>
              <a:rPr lang="en-US" sz="2000" dirty="0" smtClean="0"/>
              <a:t>math</a:t>
            </a:r>
          </a:p>
          <a:p>
            <a:pPr lvl="1">
              <a:buClr>
                <a:srgbClr val="00B2DD"/>
              </a:buClr>
            </a:pPr>
            <a:r>
              <a:rPr lang="en-US" sz="2000" dirty="0"/>
              <a:t>math.sqrt(9)</a:t>
            </a:r>
          </a:p>
        </p:txBody>
      </p:sp>
    </p:spTree>
    <p:extLst>
      <p:ext uri="{BB962C8B-B14F-4D97-AF65-F5344CB8AC3E}">
        <p14:creationId xmlns:p14="http://schemas.microsoft.com/office/powerpoint/2010/main" val="360128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884241" y="1763577"/>
            <a:ext cx="6110339" cy="2749156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  <a:p>
            <a:pPr>
              <a:buClr>
                <a:srgbClr val="00B2DD"/>
              </a:buClr>
            </a:pPr>
            <a:endParaRPr lang="en-US" dirty="0">
              <a:latin typeface="+mn-lt"/>
            </a:endParaRP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884242" y="1215700"/>
            <a:ext cx="5373684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  <a:latin typeface="+mn-lt"/>
              </a:rPr>
              <a:t>Exercise One</a:t>
            </a:r>
            <a:endParaRPr lang="en-US" dirty="0">
              <a:solidFill>
                <a:srgbClr val="00B2DD"/>
              </a:solidFill>
              <a:latin typeface="+mn-lt"/>
            </a:endParaRPr>
          </a:p>
          <a:p>
            <a:r>
              <a:rPr lang="en-GB" dirty="0"/>
              <a:t>Create a program to </a:t>
            </a:r>
            <a:r>
              <a:rPr lang="en-GB" dirty="0" smtClean="0"/>
              <a:t>ask for your favourite type of food, and print the result</a:t>
            </a:r>
            <a:endParaRPr lang="en-GB" dirty="0"/>
          </a:p>
          <a:p>
            <a:pPr lvl="1"/>
            <a:r>
              <a:rPr lang="en-GB" dirty="0" smtClean="0"/>
              <a:t>Hints:</a:t>
            </a:r>
            <a:endParaRPr lang="en-GB" dirty="0"/>
          </a:p>
          <a:p>
            <a:pPr lvl="2"/>
            <a:r>
              <a:rPr lang="en-GB" b="1" dirty="0" smtClean="0"/>
              <a:t>File&gt;New File</a:t>
            </a:r>
          </a:p>
          <a:p>
            <a:pPr lvl="2"/>
            <a:r>
              <a:rPr lang="en-GB" dirty="0" smtClean="0"/>
              <a:t>Need a variable (name cannot have spaces)</a:t>
            </a:r>
            <a:endParaRPr lang="en-GB" dirty="0"/>
          </a:p>
          <a:p>
            <a:pPr lvl="2"/>
            <a:r>
              <a:rPr lang="en-GB" dirty="0" smtClean="0"/>
              <a:t>Print </a:t>
            </a:r>
            <a:r>
              <a:rPr lang="en-GB" dirty="0"/>
              <a:t>out the result to the </a:t>
            </a:r>
            <a:r>
              <a:rPr lang="en-GB" dirty="0" smtClean="0"/>
              <a:t>shell</a:t>
            </a:r>
          </a:p>
          <a:p>
            <a:pPr lvl="2"/>
            <a:r>
              <a:rPr lang="en-GB" b="1" dirty="0" smtClean="0"/>
              <a:t>Save</a:t>
            </a:r>
            <a:r>
              <a:rPr lang="en-GB" dirty="0" smtClean="0"/>
              <a:t>, then </a:t>
            </a:r>
            <a:r>
              <a:rPr lang="en-GB" b="1" dirty="0" smtClean="0"/>
              <a:t>Run&gt;Run Module </a:t>
            </a:r>
            <a:r>
              <a:rPr lang="en-GB" dirty="0" smtClean="0"/>
              <a:t>to test</a:t>
            </a:r>
            <a:endParaRPr lang="en-GB" dirty="0"/>
          </a:p>
          <a:p>
            <a:r>
              <a:rPr lang="en-GB" dirty="0" smtClean="0"/>
              <a:t>Alternatively, try this:</a:t>
            </a:r>
          </a:p>
          <a:p>
            <a:pPr lvl="1"/>
            <a:r>
              <a:rPr lang="en-GB" dirty="0" smtClean="0"/>
              <a:t>Make a copy of </a:t>
            </a:r>
            <a:r>
              <a:rPr lang="en-GB" b="1" dirty="0" smtClean="0"/>
              <a:t>FirstProgram.py</a:t>
            </a:r>
          </a:p>
          <a:p>
            <a:pPr lvl="2"/>
            <a:r>
              <a:rPr lang="en-GB" dirty="0" smtClean="0"/>
              <a:t>Right-click&gt;</a:t>
            </a:r>
            <a:r>
              <a:rPr lang="en-GB" b="1" dirty="0" smtClean="0"/>
              <a:t>Edit with IDLE</a:t>
            </a:r>
          </a:p>
          <a:p>
            <a:pPr lvl="2"/>
            <a:r>
              <a:rPr lang="en-GB" dirty="0" smtClean="0"/>
              <a:t>Modify the code to do something like this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934" y="3655416"/>
            <a:ext cx="3014466" cy="120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76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884241" y="1215700"/>
            <a:ext cx="6134625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  <a:latin typeface="+mn-lt"/>
              </a:rPr>
              <a:t>Exercise Two</a:t>
            </a:r>
            <a:endParaRPr lang="en-US" dirty="0">
              <a:solidFill>
                <a:srgbClr val="00B2DD"/>
              </a:solidFill>
              <a:latin typeface="+mn-lt"/>
            </a:endParaRPr>
          </a:p>
          <a:p>
            <a:r>
              <a:rPr lang="en-GB" sz="2400" dirty="0"/>
              <a:t>Create a program to convert US </a:t>
            </a:r>
            <a:r>
              <a:rPr lang="en-GB" sz="2400" dirty="0" smtClean="0"/>
              <a:t>Dollars </a:t>
            </a:r>
            <a:r>
              <a:rPr lang="en-GB" sz="2400" dirty="0"/>
              <a:t>to UK </a:t>
            </a:r>
            <a:r>
              <a:rPr lang="en-GB" sz="2400" dirty="0" smtClean="0"/>
              <a:t>Pounds</a:t>
            </a:r>
            <a:endParaRPr lang="en-GB" sz="2400" dirty="0"/>
          </a:p>
          <a:p>
            <a:pPr lvl="1"/>
            <a:r>
              <a:rPr lang="en-GB" sz="2000" dirty="0" smtClean="0"/>
              <a:t>Hints:</a:t>
            </a:r>
            <a:endParaRPr lang="en-GB" sz="2000" dirty="0"/>
          </a:p>
          <a:p>
            <a:pPr lvl="2"/>
            <a:r>
              <a:rPr lang="en-GB" sz="1800" b="1" dirty="0" smtClean="0"/>
              <a:t>File&gt;New File</a:t>
            </a:r>
          </a:p>
          <a:p>
            <a:pPr lvl="2"/>
            <a:r>
              <a:rPr lang="en-GB" sz="1800" dirty="0" smtClean="0"/>
              <a:t>Need </a:t>
            </a:r>
            <a:r>
              <a:rPr lang="en-GB" sz="1800" dirty="0"/>
              <a:t>variables</a:t>
            </a:r>
          </a:p>
          <a:p>
            <a:pPr lvl="2"/>
            <a:r>
              <a:rPr lang="en-GB" sz="1800" dirty="0"/>
              <a:t>Need to get </a:t>
            </a:r>
            <a:r>
              <a:rPr lang="en-GB" sz="1800" b="1" dirty="0"/>
              <a:t>input</a:t>
            </a:r>
            <a:r>
              <a:rPr lang="en-GB" sz="1800" dirty="0"/>
              <a:t>, </a:t>
            </a:r>
            <a:r>
              <a:rPr lang="en-GB" sz="1800" b="1" dirty="0"/>
              <a:t>int() </a:t>
            </a:r>
            <a:r>
              <a:rPr lang="en-GB" sz="1800" dirty="0"/>
              <a:t>or a </a:t>
            </a:r>
            <a:r>
              <a:rPr lang="en-GB" sz="1800" b="1" dirty="0"/>
              <a:t>float()</a:t>
            </a:r>
          </a:p>
          <a:p>
            <a:pPr lvl="2"/>
            <a:r>
              <a:rPr lang="en-GB" sz="1800" dirty="0"/>
              <a:t>Print out the result to the shell</a:t>
            </a:r>
          </a:p>
          <a:p>
            <a:pPr lvl="2"/>
            <a:r>
              <a:rPr lang="en-GB" sz="1800" dirty="0"/>
              <a:t>Comment your </a:t>
            </a:r>
            <a:r>
              <a:rPr lang="en-GB" sz="1800" dirty="0" smtClean="0"/>
              <a:t>code </a:t>
            </a:r>
            <a:r>
              <a:rPr lang="en-GB" sz="1800" b="1" dirty="0" smtClean="0"/>
              <a:t>#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8548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275168" y="1215700"/>
            <a:ext cx="3390900" cy="3808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B2DD"/>
                </a:solidFill>
                <a:latin typeface="+mn-lt"/>
              </a:rPr>
              <a:t>Error Catching</a:t>
            </a:r>
            <a:endParaRPr lang="en-US" dirty="0">
              <a:solidFill>
                <a:srgbClr val="00B2DD"/>
              </a:solidFill>
              <a:latin typeface="+mn-lt"/>
            </a:endParaRPr>
          </a:p>
          <a:p>
            <a:r>
              <a:rPr lang="en-GB" sz="2300" dirty="0" smtClean="0"/>
              <a:t>Open </a:t>
            </a:r>
            <a:r>
              <a:rPr lang="en-GB" sz="2300" b="1" dirty="0" smtClean="0"/>
              <a:t>RoomCalcFloat.py</a:t>
            </a:r>
          </a:p>
          <a:p>
            <a:r>
              <a:rPr lang="en-GB" dirty="0" smtClean="0"/>
              <a:t>Modify the code:</a:t>
            </a:r>
          </a:p>
          <a:p>
            <a:pPr lvl="1"/>
            <a:r>
              <a:rPr lang="en-GB" b="1" dirty="0"/>
              <a:t>i</a:t>
            </a:r>
            <a:r>
              <a:rPr lang="en-GB" b="1" dirty="0" smtClean="0"/>
              <a:t>mport sys</a:t>
            </a:r>
          </a:p>
          <a:p>
            <a:pPr lvl="1"/>
            <a:r>
              <a:rPr lang="en-GB" b="1" dirty="0" smtClean="0"/>
              <a:t>try</a:t>
            </a:r>
            <a:r>
              <a:rPr lang="en-GB" dirty="0" smtClean="0"/>
              <a:t> the input commands</a:t>
            </a:r>
          </a:p>
          <a:p>
            <a:pPr lvl="1"/>
            <a:r>
              <a:rPr lang="en-GB" dirty="0" smtClean="0"/>
              <a:t>Use </a:t>
            </a:r>
            <a:r>
              <a:rPr lang="en-GB" b="1" dirty="0" smtClean="0"/>
              <a:t>except</a:t>
            </a:r>
            <a:r>
              <a:rPr lang="en-GB" dirty="0" smtClean="0"/>
              <a:t> to handle errors </a:t>
            </a:r>
          </a:p>
          <a:p>
            <a:pPr lvl="2"/>
            <a:r>
              <a:rPr lang="en-GB" b="1" dirty="0" smtClean="0"/>
              <a:t>print</a:t>
            </a:r>
            <a:r>
              <a:rPr lang="en-GB" dirty="0" smtClean="0"/>
              <a:t> an error message</a:t>
            </a:r>
          </a:p>
          <a:p>
            <a:pPr lvl="2"/>
            <a:r>
              <a:rPr lang="en-GB" dirty="0" smtClean="0"/>
              <a:t>Use </a:t>
            </a:r>
            <a:r>
              <a:rPr lang="en-GB" b="1" dirty="0" smtClean="0"/>
              <a:t>sys.exit()</a:t>
            </a:r>
            <a:r>
              <a:rPr lang="en-GB" dirty="0" smtClean="0"/>
              <a:t> to quit if input is invalid</a:t>
            </a:r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" r="13588" b="17865"/>
          <a:stretch/>
        </p:blipFill>
        <p:spPr>
          <a:xfrm>
            <a:off x="3992033" y="1832842"/>
            <a:ext cx="4876800" cy="215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</TotalTime>
  <Words>501</Words>
  <Application>Microsoft Office PowerPoint</Application>
  <PresentationFormat>On-screen Show (16:9)</PresentationFormat>
  <Paragraphs>83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</vt:lpstr>
      <vt:lpstr>Avenir Next Demi Bold</vt:lpstr>
      <vt:lpstr>Avenir Next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Kerry Mawby</dc:creator>
  <cp:lastModifiedBy>Jones, Mark</cp:lastModifiedBy>
  <cp:revision>255</cp:revision>
  <dcterms:created xsi:type="dcterms:W3CDTF">2017-04-05T11:04:35Z</dcterms:created>
  <dcterms:modified xsi:type="dcterms:W3CDTF">2020-07-07T10:46:24Z</dcterms:modified>
</cp:coreProperties>
</file>